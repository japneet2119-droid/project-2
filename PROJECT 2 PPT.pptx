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96"/>
  </p:normalViewPr>
  <p:slideViewPr>
    <p:cSldViewPr snapToGrid="0">
      <p:cViewPr>
        <p:scale>
          <a:sx n="71" d="100"/>
          <a:sy n="71" d="100"/>
        </p:scale>
        <p:origin x="176" y="6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F5022-C510-47EE-5CCF-D1DE72A241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EF6C3-B425-9844-F57C-24A66131D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B1B79-5303-F295-8EE1-9ADBEA4F6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628856-4B59-D157-D1E4-5535F849A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70F33C-D7E8-8DFB-526B-3EA8EF909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275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1B2641-FA0D-A13C-B638-1A879EC56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5002B4-A766-8FE7-57F9-19AD5A98DF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CC5187-203D-B4F1-9A5D-50B2C5BF7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380262-7ADC-7204-672E-9B762CA0C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2A12E-CCE3-CFF1-12A9-D51C17DB6A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378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E02F6B-211A-CDBC-FA76-BC1E0BEDF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BD64C-4B25-00EF-5B26-C2A4B716D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5F3E-E7FC-CA3C-D01D-81A22C5CA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BDC6EE-A4A9-EE21-EEDD-094A80945C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D3CDB3-4390-81A5-BD4F-8CE9BDFA5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448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8D00-7CBE-F683-3367-8CE97E025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C5A18-EF99-C153-9EE9-B9F3283D90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9438F1-70F0-ECEE-8A5E-A014BC5165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F5C4B-F4AB-C5FC-F8E1-B094217A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8992DB-6815-3CF7-C88B-7D3464E4F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C73A3F-530D-C487-F121-52188EA4E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370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6BD0D-3533-4A47-2399-23A89CD81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0563B-D63E-C0D5-30E2-4B30C6169C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E5AB6F-1891-8B7E-CAFA-D6E3B420D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6A25B5-4FD7-C11A-2596-793E5065C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403687-16F0-1A47-A76B-F2F63E4715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72B02E-6847-101D-C443-EAA4A384D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816A9F-7CAE-65EB-F98C-F3CBCCB4A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BF0C5D-7D54-3EEE-B69A-C691F7379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98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D65F7F-2789-7F7C-4752-B750FC6E7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2EF423-FC0F-95C0-0C8D-51911C8DB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9D4944-75FD-F41E-D5C6-BEE093D45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E04AB6-3408-ECCA-E5A4-CA651C068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37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2ED5D2-9BD6-96FD-6409-5B2F9F653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41B1CA-445A-A125-5520-16B88C7FF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4F5743-7A6D-7081-C851-5CB693879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653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6AD7-9CEC-207A-9073-B81CD5551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6DAA1E-9BBD-2E7C-C75B-223CF3AEF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5FC64F-93F6-8D57-6DF2-8AE8D4863C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C7E849-43E1-9581-1EE3-59F07EA47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216588-FFD5-8038-87AD-7EAD31FDD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1EBE98-8F43-C8CB-E619-0ADE4E2AF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0622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B3096-B47B-C22E-EB67-FB3FAE49C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27157E7-C50A-A5C5-8C3F-C3B18718E7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CCEE36-23F1-2B13-9A7D-AF26BDFF69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217D2B-3E20-2D62-8737-205A662EA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F9340-3AC5-F1F8-31FB-34F02A8DD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393FA8-9253-5383-F44F-4048DFF0C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80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D8BDBF-B2DF-AAC9-5731-7B0DF47F7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008AE5-6393-C5DD-9AA0-13206DF3F5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B88FCF-7044-E4B9-3099-3E9C35540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39820-C89C-0380-ADA4-312D26AD3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426F1-1DC2-21EE-2FA6-5E5F675EE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94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B22ADE-2EEA-834F-8822-22040391E4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4FCDAA-413A-C55D-0337-EB273AB410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AB70B-81C9-2EB5-4D86-D41356305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C085E-3CBB-721B-E3EA-C6002B82E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E5D4E0-49CE-0DF9-747D-9EF39E6EC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1457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28672F6-8B62-A817-D58C-3D7795BFDF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3902DD-D1FA-48BF-CB4D-D70E2E78F0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A4494-F487-0B2F-E6D3-2C237D6E6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4/8/26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8FF6B-729A-85AA-C078-7165E30975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AEC2E-89BA-DE6C-0C3D-CA21290368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530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stock%20market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en/coding-business-working-macbook-699318/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u.pinterest.com/pin/321163017151226041/" TargetMode="External"/><Relationship Id="rId2" Type="http://schemas.openxmlformats.org/officeDocument/2006/relationships/image" Target="../media/image9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.pngtree.com/freepng/thank-you-text-hand-lettering-with-flowers-butterfly-and-leaves-celebration_8522209.html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D9C88-131B-F0FD-18DB-CEAFA23BED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8" y="643467"/>
            <a:ext cx="5452532" cy="1436345"/>
          </a:xfrm>
        </p:spPr>
        <p:txBody>
          <a:bodyPr>
            <a:normAutofit/>
          </a:bodyPr>
          <a:lstStyle/>
          <a:p>
            <a:r>
              <a:rPr lang="en-US" sz="4400" b="1" u="sng" dirty="0">
                <a:latin typeface="ADLaM Display" panose="02010000000000000000" pitchFamily="2" charset="77"/>
                <a:ea typeface="ADLaM Display" panose="02010000000000000000" pitchFamily="2" charset="77"/>
                <a:cs typeface="ADLaM Display" panose="02010000000000000000" pitchFamily="2" charset="77"/>
              </a:rPr>
              <a:t>PROJECT-2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672555-FC87-6F27-CDA1-10A5868794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3468" y="2723279"/>
            <a:ext cx="5092314" cy="3491254"/>
          </a:xfrm>
        </p:spPr>
        <p:txBody>
          <a:bodyPr>
            <a:normAutofit/>
          </a:bodyPr>
          <a:lstStyle/>
          <a:p>
            <a:r>
              <a:rPr lang="en-US" sz="3200" u="sng" dirty="0">
                <a:solidFill>
                  <a:srgbClr val="FF0000"/>
                </a:solidFill>
              </a:rPr>
              <a:t>DATA ANALYSIS OF </a:t>
            </a:r>
            <a:br>
              <a:rPr lang="en-CA" u="sng" dirty="0">
                <a:solidFill>
                  <a:srgbClr val="FF0000"/>
                </a:solidFill>
              </a:rPr>
            </a:br>
            <a:endParaRPr lang="en-CA" u="sng" dirty="0">
              <a:solidFill>
                <a:srgbClr val="FF0000"/>
              </a:solidFill>
            </a:endParaRPr>
          </a:p>
          <a:p>
            <a:r>
              <a:rPr lang="en-CA" u="sng" dirty="0">
                <a:solidFill>
                  <a:srgbClr val="FF0000"/>
                </a:solidFill>
              </a:rPr>
              <a:t> </a:t>
            </a:r>
            <a:r>
              <a:rPr lang="en-CA" sz="3200" u="sng" dirty="0">
                <a:solidFill>
                  <a:srgbClr val="FF0000"/>
                </a:solidFill>
              </a:rPr>
              <a:t>2016 BC HOUSING AFFORDABILITY AND RENTAL SUBSIDIES </a:t>
            </a:r>
          </a:p>
          <a:p>
            <a:r>
              <a:rPr lang="en-CA" sz="3200" u="sng" dirty="0">
                <a:solidFill>
                  <a:srgbClr val="FF0000"/>
                </a:solidFill>
              </a:rPr>
              <a:t>USING PYTHON</a:t>
            </a:r>
          </a:p>
          <a:p>
            <a:pPr algn="l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C285DBB-FC04-1931-802F-7D0E3BD03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27" r="42166"/>
          <a:stretch>
            <a:fillRect/>
          </a:stretch>
        </p:blipFill>
        <p:spPr>
          <a:xfrm>
            <a:off x="6229215" y="10"/>
            <a:ext cx="5962785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573379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DE921A-547E-0F83-F09B-F5EBF581E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9226" y="394633"/>
            <a:ext cx="9833548" cy="1325563"/>
          </a:xfrm>
        </p:spPr>
        <p:txBody>
          <a:bodyPr anchor="b">
            <a:normAutofit/>
          </a:bodyPr>
          <a:lstStyle/>
          <a:p>
            <a:pPr algn="ctr"/>
            <a:r>
              <a:rPr lang="en-US" sz="4000" b="1" u="sng" dirty="0">
                <a:solidFill>
                  <a:schemeClr val="accent2">
                    <a:lumMod val="75000"/>
                  </a:schemeClr>
                </a:solidFill>
                <a:latin typeface="AkayaKanadaka" panose="02010502080401010103" pitchFamily="2" charset="77"/>
                <a:cs typeface="AkayaKanadaka" panose="02010502080401010103" pitchFamily="2" charset="77"/>
              </a:rPr>
              <a:t>INTRODUCTION TO BC CENSUS 2016 DATA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C282FB-F10D-5838-4A77-C61EF5B03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7249" y="1787715"/>
            <a:ext cx="6273858" cy="4415861"/>
          </a:xfrm>
        </p:spPr>
        <p:txBody>
          <a:bodyPr>
            <a:normAutofit lnSpcReduction="10000"/>
          </a:bodyPr>
          <a:lstStyle/>
          <a:p>
            <a:r>
              <a:rPr lang="en-US" sz="3200" b="1" dirty="0">
                <a:solidFill>
                  <a:schemeClr val="accent5"/>
                </a:solidFill>
              </a:rPr>
              <a:t>The BC Census 2016 data project provides a comprehensive analysis of demographic and socio-economic trends in British Columbia. By leveraging this data, the project aims to inform policy decisions and enhance understanding of community needs.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1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960EEA4-AD2E-13C5-683C-87209BEE60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30951" y="2224529"/>
            <a:ext cx="5360588" cy="3545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92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Hands typing on a computer keyboard&#10;&#10;AI-generated content may be incorrect.">
            <a:extLst>
              <a:ext uri="{FF2B5EF4-FFF2-40B4-BE49-F238E27FC236}">
                <a16:creationId xmlns:a16="http://schemas.microsoft.com/office/drawing/2014/main" id="{765C7FBC-236F-3699-0B34-7C43B18817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416" r="-1" b="-1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577B181-6153-6E69-4F78-1CF168B6F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 b="1" u="sng">
                <a:latin typeface="AkayaTelivigala" pitchFamily="2" charset="77"/>
                <a:cs typeface="AkayaTelivigala" pitchFamily="2" charset="77"/>
              </a:rPr>
              <a:t>PLATFORMS USED FOR THIS PROJECT</a:t>
            </a:r>
          </a:p>
        </p:txBody>
      </p:sp>
      <p:sp>
        <p:nvSpPr>
          <p:cNvPr id="29" name="Content Placeholder 7">
            <a:extLst>
              <a:ext uri="{FF2B5EF4-FFF2-40B4-BE49-F238E27FC236}">
                <a16:creationId xmlns:a16="http://schemas.microsoft.com/office/drawing/2014/main" id="{AFC4EB9E-6715-C9BA-F57A-A477FD716D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2000">
                <a:latin typeface="AkayaKanadaka" panose="02010502080401010103" pitchFamily="2" charset="77"/>
                <a:cs typeface="AkayaKanadaka" panose="02010502080401010103" pitchFamily="2" charset="77"/>
              </a:rPr>
              <a:t>PYTHON</a:t>
            </a:r>
          </a:p>
          <a:p>
            <a:pPr marL="0" indent="0">
              <a:buNone/>
            </a:pPr>
            <a:endParaRPr lang="en-US" sz="2000">
              <a:latin typeface="AkayaKanadaka" panose="02010502080401010103" pitchFamily="2" charset="77"/>
              <a:cs typeface="AkayaKanadaka" panose="02010502080401010103" pitchFamily="2" charset="77"/>
            </a:endParaRPr>
          </a:p>
          <a:p>
            <a:r>
              <a:rPr lang="en-US" sz="2000">
                <a:latin typeface="AkayaKanadaka" panose="02010502080401010103" pitchFamily="2" charset="77"/>
                <a:cs typeface="AkayaKanadaka" panose="02010502080401010103" pitchFamily="2" charset="77"/>
              </a:rPr>
              <a:t>MATPLOTLIB</a:t>
            </a:r>
          </a:p>
          <a:p>
            <a:pPr marL="0" indent="0">
              <a:buNone/>
            </a:pPr>
            <a:endParaRPr lang="en-US" sz="2000">
              <a:latin typeface="AkayaKanadaka" panose="02010502080401010103" pitchFamily="2" charset="77"/>
              <a:cs typeface="AkayaKanadaka" panose="02010502080401010103" pitchFamily="2" charset="77"/>
            </a:endParaRPr>
          </a:p>
          <a:p>
            <a:r>
              <a:rPr lang="en-US" sz="2000">
                <a:latin typeface="AkayaKanadaka" panose="02010502080401010103" pitchFamily="2" charset="77"/>
                <a:cs typeface="AkayaKanadaka" panose="02010502080401010103" pitchFamily="2" charset="77"/>
              </a:rPr>
              <a:t>PANDA</a:t>
            </a:r>
          </a:p>
        </p:txBody>
      </p:sp>
    </p:spTree>
    <p:extLst>
      <p:ext uri="{BB962C8B-B14F-4D97-AF65-F5344CB8AC3E}">
        <p14:creationId xmlns:p14="http://schemas.microsoft.com/office/powerpoint/2010/main" val="3645136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Freeform: Shape 54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A8E113-3B0F-8B66-3EF3-CBA97CCB6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u="sng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HOUSING PRICING COMPARISON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88DB02-BAE2-E075-4522-C83C59C3D397}"/>
              </a:ext>
            </a:extLst>
          </p:cNvPr>
          <p:cNvSpPr txBox="1"/>
          <p:nvPr/>
        </p:nvSpPr>
        <p:spPr>
          <a:xfrm>
            <a:off x="838200" y="2550039"/>
            <a:ext cx="3458622" cy="32631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b="1" dirty="0">
                <a:solidFill>
                  <a:srgbClr val="00B0F0"/>
                </a:solidFill>
              </a:rPr>
              <a:t>FROM THE BAR CHART SHOWN, BRITISH COLUMBIA HAS THE HIGHEST HOUSING COST AS COMPARED TO OTHER CITIES !!!</a:t>
            </a:r>
          </a:p>
        </p:txBody>
      </p:sp>
      <p:pic>
        <p:nvPicPr>
          <p:cNvPr id="5" name="Picture 4" descr="A graph of blue bars with green text&#10;&#10;AI-generated content may be incorrect.">
            <a:extLst>
              <a:ext uri="{FF2B5EF4-FFF2-40B4-BE49-F238E27FC236}">
                <a16:creationId xmlns:a16="http://schemas.microsoft.com/office/drawing/2014/main" id="{53C4299C-759D-FC6F-376D-A1701DF90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457" y="1132693"/>
            <a:ext cx="6155141" cy="4616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819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 descr="A colorful pie chart with numbers&#10;&#10;AI-generated content may be incorrect.">
            <a:extLst>
              <a:ext uri="{FF2B5EF4-FFF2-40B4-BE49-F238E27FC236}">
                <a16:creationId xmlns:a16="http://schemas.microsoft.com/office/drawing/2014/main" id="{F4CEF93B-F3AB-4CAF-7DCE-55160EBE6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83" r="10972" b="2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43" name="Rectangle 42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44C1F9-F916-28F7-EEB3-749481957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 b="1" u="sng"/>
              <a:t>HOUSING DISTRIBUTIONS</a:t>
            </a:r>
          </a:p>
        </p:txBody>
      </p:sp>
      <p:sp>
        <p:nvSpPr>
          <p:cNvPr id="17" name="Content Placeholder 8">
            <a:extLst>
              <a:ext uri="{FF2B5EF4-FFF2-40B4-BE49-F238E27FC236}">
                <a16:creationId xmlns:a16="http://schemas.microsoft.com/office/drawing/2014/main" id="{EFA1645E-FD1C-DE37-C207-EF68453110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200"/>
              <a:t>THIS PIE CHART SHOWS HOW HOUSING CONDITIONS ARE DISTRIBUTED AMONG VARIOUS REGIONS !! </a:t>
            </a:r>
          </a:p>
        </p:txBody>
      </p:sp>
    </p:spTree>
    <p:extLst>
      <p:ext uri="{BB962C8B-B14F-4D97-AF65-F5344CB8AC3E}">
        <p14:creationId xmlns:p14="http://schemas.microsoft.com/office/powerpoint/2010/main" val="3139124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93788B-D85A-EDDC-7632-B0B44DF5E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600" b="1" u="sng">
                <a:latin typeface="AkayaKanadaka" panose="02010502080401010103" pitchFamily="2" charset="77"/>
                <a:cs typeface="AkayaKanadaka" panose="02010502080401010103" pitchFamily="2" charset="77"/>
              </a:rPr>
              <a:t>CODING USED FOR BAR CHART </a:t>
            </a:r>
          </a:p>
        </p:txBody>
      </p:sp>
      <p:sp>
        <p:nvSpPr>
          <p:cNvPr id="16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74498-9D9B-C11B-DAB3-A85DAD26E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plt.figure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()</a:t>
            </a:r>
          </a:p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plt.bar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(</a:t>
            </a:r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high_rent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["</a:t>
            </a:r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chsa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"], </a:t>
            </a:r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high_rent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["shelt_rent_30plus_rate"])</a:t>
            </a:r>
          </a:p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plt.title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("Rent Burden with CHSA &gt; 50%", color= 'green', </a:t>
            </a:r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fontsize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=20)</a:t>
            </a:r>
          </a:p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plt.xlabel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("CHSA", color= 'green', </a:t>
            </a:r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fontsize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=20)</a:t>
            </a:r>
          </a:p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plt.ylabel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("Burden of Rent (%)", color= 'green', </a:t>
            </a:r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fontsize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=20)</a:t>
            </a:r>
          </a:p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plt.xticks</a:t>
            </a:r>
            <a:r>
              <a:rPr lang="en-CA" sz="1500" dirty="0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(rotation=90, color= 'purple')</a:t>
            </a:r>
          </a:p>
          <a:p>
            <a:r>
              <a:rPr lang="en-CA" sz="1500" dirty="0" err="1">
                <a:solidFill>
                  <a:schemeClr val="accent5">
                    <a:lumMod val="75000"/>
                  </a:schemeClr>
                </a:solidFill>
                <a:latin typeface="AkayaTelivigala" pitchFamily="2" charset="77"/>
                <a:cs typeface="AkayaTelivigala" pitchFamily="2" charset="77"/>
              </a:rPr>
              <a:t>plt.show</a:t>
            </a:r>
            <a:endParaRPr lang="en-CA" sz="1500" dirty="0">
              <a:solidFill>
                <a:schemeClr val="accent5">
                  <a:lumMod val="75000"/>
                </a:schemeClr>
              </a:solidFill>
              <a:latin typeface="AkayaTelivigala" pitchFamily="2" charset="77"/>
              <a:cs typeface="AkayaTelivigala" pitchFamily="2" charset="77"/>
            </a:endParaRPr>
          </a:p>
          <a:p>
            <a:endParaRPr lang="en-US" sz="1500" dirty="0"/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5EFF11F-8CFF-6E24-434F-1C81ADA69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3047" b="-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307331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31BAD53-4E89-4F62-BBB7-26359763E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2756DA2-40EB-4C6F-B962-5822FFB54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264CBF-3135-B080-821F-F0470703D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9600"/>
            <a:ext cx="3739341" cy="1330839"/>
          </a:xfrm>
        </p:spPr>
        <p:txBody>
          <a:bodyPr>
            <a:normAutofit/>
          </a:bodyPr>
          <a:lstStyle/>
          <a:p>
            <a:r>
              <a:rPr lang="en-US" b="1" u="sng" dirty="0">
                <a:latin typeface="AkayaKanadaka" panose="02010502080401010103" pitchFamily="2" charset="77"/>
                <a:cs typeface="AkayaKanadaka" panose="02010502080401010103" pitchFamily="2" charset="77"/>
              </a:rPr>
              <a:t>CODING USED FOR PIE CHART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A8A2AD-40BD-62D5-BC51-5D73C7EF8E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2366" y="2194102"/>
            <a:ext cx="3427001" cy="3908586"/>
          </a:xfrm>
        </p:spPr>
        <p:txBody>
          <a:bodyPr numCol="2">
            <a:normAutofit/>
          </a:bodyPr>
          <a:lstStyle/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plt.pie(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avg_region,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colors=colors,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explode=explode,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labels= avg_region.index,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autopct='%2.2f%%',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startangle=150,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shadow=True,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wedgeprops={'edgecolor': 'red'}</a:t>
            </a:r>
          </a:p>
          <a:p>
            <a:b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</a:br>
            <a:endParaRPr lang="en-CA" sz="1300">
              <a:latin typeface="AkayaKanadaka" panose="02010502080401010103" pitchFamily="2" charset="77"/>
              <a:cs typeface="AkayaKanadaka" panose="02010502080401010103" pitchFamily="2" charset="77"/>
            </a:endParaRP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)</a:t>
            </a:r>
          </a:p>
          <a:p>
            <a:b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</a:br>
            <a:endParaRPr lang="en-CA" sz="1300">
              <a:latin typeface="AkayaKanadaka" panose="02010502080401010103" pitchFamily="2" charset="77"/>
              <a:cs typeface="AkayaKanadaka" panose="02010502080401010103" pitchFamily="2" charset="77"/>
            </a:endParaRP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plt.tight_layout()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plt.title("Burden of Rent Distributed by PHA ",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fontsize=20,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fontstyle='oblique',</a:t>
            </a: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color= 'green'</a:t>
            </a:r>
          </a:p>
          <a:p>
            <a:b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</a:br>
            <a:endParaRPr lang="en-CA" sz="1300">
              <a:latin typeface="AkayaKanadaka" panose="02010502080401010103" pitchFamily="2" charset="77"/>
              <a:cs typeface="AkayaKanadaka" panose="02010502080401010103" pitchFamily="2" charset="77"/>
            </a:endParaRPr>
          </a:p>
          <a:p>
            <a:r>
              <a:rPr lang="en-CA" sz="1300">
                <a:latin typeface="AkayaKanadaka" panose="02010502080401010103" pitchFamily="2" charset="77"/>
                <a:cs typeface="AkayaKanadaka" panose="02010502080401010103" pitchFamily="2" charset="77"/>
              </a:rPr>
              <a:t>)</a:t>
            </a:r>
          </a:p>
          <a:p>
            <a:endParaRPr lang="en-US" sz="1300"/>
          </a:p>
        </p:txBody>
      </p:sp>
      <p:pic>
        <p:nvPicPr>
          <p:cNvPr id="7" name="Graphic 6" descr="Footer">
            <a:extLst>
              <a:ext uri="{FF2B5EF4-FFF2-40B4-BE49-F238E27FC236}">
                <a16:creationId xmlns:a16="http://schemas.microsoft.com/office/drawing/2014/main" id="{855FF11A-CCA8-8FC5-874D-BC300B4735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44073" y="661916"/>
            <a:ext cx="5557909" cy="555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7448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CF60FA5-5746-565A-4E98-87F1762DB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US" sz="4600" b="1" u="sng"/>
              <a:t>KEY OUTCOMES</a:t>
            </a:r>
          </a:p>
        </p:txBody>
      </p:sp>
      <p:sp>
        <p:nvSpPr>
          <p:cNvPr id="2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B22CF96-7E3B-A021-41C8-FA59D369CB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0936" y="2807208"/>
            <a:ext cx="3429000" cy="341071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Python helps visualize data clearly.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Housing affordability is a major issue.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n-US" altLang="en-US" sz="22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supports decision-making</a:t>
            </a:r>
          </a:p>
        </p:txBody>
      </p:sp>
      <p:pic>
        <p:nvPicPr>
          <p:cNvPr id="5" name="Content Placeholder 4" descr="A white house with black trim&#10;&#10;AI-generated content may be incorrect.">
            <a:extLst>
              <a:ext uri="{FF2B5EF4-FFF2-40B4-BE49-F238E27FC236}">
                <a16:creationId xmlns:a16="http://schemas.microsoft.com/office/drawing/2014/main" id="{99FBFC42-C874-081B-95A2-F498DF5BA7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654296" y="840105"/>
            <a:ext cx="6903720" cy="517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999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 descr="A black background with flowers and leaves&#10;&#10;AI-generated content may be incorrect.">
            <a:extLst>
              <a:ext uri="{FF2B5EF4-FFF2-40B4-BE49-F238E27FC236}">
                <a16:creationId xmlns:a16="http://schemas.microsoft.com/office/drawing/2014/main" id="{3690A052-313F-52C9-1CBF-E8F4064736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3692" b="15385"/>
          <a:stretch>
            <a:fillRect/>
          </a:stretch>
        </p:blipFill>
        <p:spPr>
          <a:xfrm>
            <a:off x="2522358" y="10"/>
            <a:ext cx="9669642" cy="6857990"/>
          </a:xfrm>
          <a:prstGeom prst="rect">
            <a:avLst/>
          </a:prstGeom>
        </p:spPr>
      </p:pic>
      <p:sp>
        <p:nvSpPr>
          <p:cNvPr id="37" name="Rectangle 36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5E4773-36C4-0688-C5B3-580418D6D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228" y="743447"/>
            <a:ext cx="3973385" cy="3692028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200" b="1" u="sng"/>
              <a:t>THANK YOU 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BBED70A-FC78-1F44-D182-4013C982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2229" y="4629234"/>
            <a:ext cx="3973386" cy="1485319"/>
          </a:xfrm>
          <a:noFill/>
        </p:spPr>
        <p:txBody>
          <a:bodyPr vert="horz" lIns="91440" tIns="45720" rIns="91440" bIns="45720" rtlCol="0">
            <a:normAutofit/>
          </a:bodyPr>
          <a:lstStyle/>
          <a:p>
            <a:pPr marL="0" indent="0">
              <a:buNone/>
            </a:pPr>
            <a:r>
              <a:rPr lang="en-US" sz="2400" b="1" u="sng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587337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326</TotalTime>
  <Words>303</Words>
  <Application>Microsoft Macintosh PowerPoint</Application>
  <PresentationFormat>Widescreen</PresentationFormat>
  <Paragraphs>53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ADLaM Display</vt:lpstr>
      <vt:lpstr>AkayaKanadaka</vt:lpstr>
      <vt:lpstr>AkayaTelivigala</vt:lpstr>
      <vt:lpstr>Aptos</vt:lpstr>
      <vt:lpstr>Aptos Display</vt:lpstr>
      <vt:lpstr>Arial</vt:lpstr>
      <vt:lpstr>Office Theme</vt:lpstr>
      <vt:lpstr>PROJECT-2</vt:lpstr>
      <vt:lpstr>INTRODUCTION TO BC CENSUS 2016 DATA</vt:lpstr>
      <vt:lpstr>PLATFORMS USED FOR THIS PROJECT</vt:lpstr>
      <vt:lpstr>HOUSING PRICING COMPARISON</vt:lpstr>
      <vt:lpstr>HOUSING DISTRIBUTIONS</vt:lpstr>
      <vt:lpstr>CODING USED FOR BAR CHART </vt:lpstr>
      <vt:lpstr>CODING USED FOR PIE CHART</vt:lpstr>
      <vt:lpstr>KEY OUTCOMES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Japneet Kaur .</dc:creator>
  <cp:lastModifiedBy>Japneet Kaur .</cp:lastModifiedBy>
  <cp:revision>1</cp:revision>
  <dcterms:created xsi:type="dcterms:W3CDTF">2026-04-08T22:17:56Z</dcterms:created>
  <dcterms:modified xsi:type="dcterms:W3CDTF">2026-04-09T03:44:25Z</dcterms:modified>
</cp:coreProperties>
</file>